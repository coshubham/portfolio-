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65" r:id="rId3"/>
    <p:sldId id="267" r:id="rId4"/>
    <p:sldId id="266" r:id="rId5"/>
    <p:sldId id="276" r:id="rId6"/>
    <p:sldId id="273" r:id="rId7"/>
    <p:sldId id="274" r:id="rId8"/>
    <p:sldId id="275" r:id="rId9"/>
    <p:sldId id="277" r:id="rId10"/>
    <p:sldId id="278" r:id="rId11"/>
    <p:sldId id="279" r:id="rId12"/>
    <p:sldId id="280" r:id="rId13"/>
    <p:sldId id="281" r:id="rId14"/>
    <p:sldId id="282" r:id="rId15"/>
    <p:sldId id="285" r:id="rId16"/>
    <p:sldId id="283" r:id="rId17"/>
    <p:sldId id="288" r:id="rId18"/>
    <p:sldId id="286" r:id="rId19"/>
    <p:sldId id="28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73" d="100"/>
          <a:sy n="73" d="100"/>
        </p:scale>
        <p:origin x="404" y="3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B48F5-BACC-47D6-A0F7-82FBF9C6BC85}" type="datetimeFigureOut">
              <a:rPr lang="en-US"/>
              <a:t>4/17/2023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CAF8E-318A-4EFE-8633-D9E72ABCE0E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1CD00-5424-4675-AB18-2C419B060449}" type="datetimeFigureOut">
              <a:rPr lang="en-US"/>
              <a:t>4/17/2023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2CF44-2B13-41B4-A334-1CDF534EEBB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066800" y="3165763"/>
            <a:ext cx="10058400" cy="1711037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066800" y="4953000"/>
            <a:ext cx="10058400" cy="685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4589463"/>
            <a:ext cx="9144000" cy="150653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76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76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81251" y="777240"/>
            <a:ext cx="6400800" cy="530352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127248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 descr="An empty placeholder to add an image. Click on the placeholder and select the image that you wish to add."/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943100" cy="56388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457199"/>
            <a:ext cx="7048500" cy="56388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4/17/2023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" TargetMode="External"/><Relationship Id="rId2" Type="http://schemas.openxmlformats.org/officeDocument/2006/relationships/hyperlink" Target="https://www.w3schools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javatpoint.com/" TargetMode="External"/><Relationship Id="rId4" Type="http://schemas.openxmlformats.org/officeDocument/2006/relationships/hyperlink" Target="https://www.youtube.com/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3165763"/>
            <a:ext cx="10058400" cy="2396837"/>
          </a:xfrm>
        </p:spPr>
        <p:txBody>
          <a:bodyPr/>
          <a:lstStyle/>
          <a:p>
            <a:pPr algn="ctr"/>
            <a:r>
              <a:rPr lang="en-IN" sz="7000" b="1" i="0" dirty="0">
                <a:effectLst/>
                <a:latin typeface="Algerian" panose="04020705040A02060702" pitchFamily="82" charset="0"/>
              </a:rPr>
              <a:t>CLUSTER COMPUTING</a:t>
            </a:r>
            <a:br>
              <a:rPr lang="en-IN" b="0" i="0" dirty="0">
                <a:solidFill>
                  <a:srgbClr val="66FFFF"/>
                </a:solidFill>
                <a:effectLst/>
                <a:latin typeface="Georgia" panose="02040502050405020303" pitchFamily="18" charset="0"/>
              </a:rPr>
            </a:br>
            <a:endParaRPr dirty="0">
              <a:solidFill>
                <a:srgbClr val="66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45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2E880-A5CC-B236-A42F-EAA88F415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0"/>
            <a:ext cx="11963400" cy="1230086"/>
          </a:xfrm>
        </p:spPr>
        <p:txBody>
          <a:bodyPr>
            <a:noAutofit/>
          </a:bodyPr>
          <a:lstStyle/>
          <a:p>
            <a:pPr algn="ctr"/>
            <a:r>
              <a:rPr lang="en-IN" sz="5400" b="1" spc="300" dirty="0">
                <a:latin typeface="Algerian" panose="04020705040A02060702" pitchFamily="82" charset="0"/>
              </a:rPr>
              <a:t>OVERVIEW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4294967295"/>
          </p:nvPr>
        </p:nvSpPr>
        <p:spPr>
          <a:xfrm>
            <a:off x="762000" y="1230087"/>
            <a:ext cx="10668000" cy="5323114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500" b="1" i="0" dirty="0">
                <a:solidFill>
                  <a:srgbClr val="E8EAED"/>
                </a:solidFill>
                <a:effectLst/>
                <a:latin typeface="Algerian" panose="04020705040A02060702" pitchFamily="82" charset="0"/>
              </a:rPr>
              <a:t>History </a:t>
            </a:r>
          </a:p>
          <a:p>
            <a:pPr algn="just">
              <a:lnSpc>
                <a:spcPct val="100000"/>
              </a:lnSpc>
            </a:pPr>
            <a:r>
              <a:rPr lang="en-US" sz="2500" b="1" i="0" dirty="0">
                <a:solidFill>
                  <a:srgbClr val="E8EAED"/>
                </a:solidFill>
                <a:effectLst/>
                <a:latin typeface="Algerian" panose="04020705040A02060702" pitchFamily="82" charset="0"/>
              </a:rPr>
              <a:t>Introduction </a:t>
            </a:r>
          </a:p>
          <a:p>
            <a:pPr algn="just">
              <a:lnSpc>
                <a:spcPct val="100000"/>
              </a:lnSpc>
            </a:pPr>
            <a:r>
              <a:rPr lang="en-US" sz="2500" b="1" i="0" dirty="0">
                <a:solidFill>
                  <a:srgbClr val="E8EAED"/>
                </a:solidFill>
                <a:effectLst/>
                <a:latin typeface="Algerian" panose="04020705040A02060702" pitchFamily="82" charset="0"/>
              </a:rPr>
              <a:t> Types of cluster </a:t>
            </a:r>
          </a:p>
          <a:p>
            <a:pPr algn="just">
              <a:lnSpc>
                <a:spcPct val="100000"/>
              </a:lnSpc>
            </a:pPr>
            <a:r>
              <a:rPr lang="en-US" sz="2500" b="1" i="0" dirty="0">
                <a:solidFill>
                  <a:srgbClr val="E8EAED"/>
                </a:solidFill>
                <a:effectLst/>
                <a:latin typeface="Algerian" panose="04020705040A02060702" pitchFamily="82" charset="0"/>
              </a:rPr>
              <a:t> Components of cluster</a:t>
            </a:r>
          </a:p>
          <a:p>
            <a:pPr algn="just">
              <a:lnSpc>
                <a:spcPct val="100000"/>
              </a:lnSpc>
            </a:pPr>
            <a:r>
              <a:rPr lang="en-IN" sz="2500" b="1" dirty="0">
                <a:solidFill>
                  <a:srgbClr val="E8EAED"/>
                </a:solidFill>
                <a:latin typeface="Algerian" panose="04020705040A02060702" pitchFamily="82" charset="0"/>
              </a:rPr>
              <a:t>Advantage</a:t>
            </a:r>
          </a:p>
          <a:p>
            <a:pPr algn="just">
              <a:lnSpc>
                <a:spcPct val="100000"/>
              </a:lnSpc>
            </a:pPr>
            <a:r>
              <a:rPr lang="en-IN" sz="2500" b="1" dirty="0">
                <a:latin typeface="Algerian" panose="04020705040A02060702" pitchFamily="82" charset="0"/>
              </a:rPr>
              <a:t>Disadvantages</a:t>
            </a:r>
          </a:p>
          <a:p>
            <a:pPr algn="just">
              <a:lnSpc>
                <a:spcPct val="100000"/>
              </a:lnSpc>
            </a:pPr>
            <a:r>
              <a:rPr lang="en-IN" sz="2500" b="1" dirty="0">
                <a:latin typeface="Algerian" panose="04020705040A02060702" pitchFamily="82" charset="0"/>
              </a:rPr>
              <a:t>Application</a:t>
            </a:r>
          </a:p>
          <a:p>
            <a:pPr algn="just">
              <a:lnSpc>
                <a:spcPct val="100000"/>
              </a:lnSpc>
            </a:pPr>
            <a:r>
              <a:rPr lang="en-US" sz="2500" b="1" dirty="0">
                <a:latin typeface="Algerian" panose="04020705040A02060702" pitchFamily="82" charset="0"/>
              </a:rPr>
              <a:t>CONCLUSION</a:t>
            </a:r>
          </a:p>
          <a:p>
            <a:pPr algn="just">
              <a:lnSpc>
                <a:spcPct val="100000"/>
              </a:lnSpc>
            </a:pPr>
            <a:r>
              <a:rPr lang="en-US" sz="2500" b="1" dirty="0">
                <a:latin typeface="Algerian" panose="04020705040A02060702" pitchFamily="82" charset="0"/>
              </a:rPr>
              <a:t>References</a:t>
            </a:r>
            <a:r>
              <a:rPr lang="en-IN" sz="2500" b="1" dirty="0">
                <a:latin typeface="Algerian" panose="04020705040A02060702" pitchFamily="82" charset="0"/>
              </a:rPr>
              <a:t>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500" b="1" dirty="0">
                <a:latin typeface="Algerian" panose="04020705040A02060702" pitchFamily="8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2826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39189"/>
            <a:ext cx="12039600" cy="1332411"/>
          </a:xfrm>
        </p:spPr>
        <p:txBody>
          <a:bodyPr>
            <a:normAutofit/>
          </a:bodyPr>
          <a:lstStyle/>
          <a:p>
            <a:pPr algn="ctr"/>
            <a:r>
              <a:rPr lang="en-IN" sz="5400" b="1" dirty="0">
                <a:latin typeface="Algerian" panose="04020705040A02060702" pitchFamily="82" charset="0"/>
              </a:rPr>
              <a:t>HISTORY</a:t>
            </a:r>
            <a:endParaRPr sz="5400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905000"/>
            <a:ext cx="10058400" cy="4648200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500" dirty="0"/>
              <a:t> Greg Pfister is a computer scientist and worked a lot for cluster computing, according to him clusters were not invented by any specific vendor but by customers. </a:t>
            </a:r>
          </a:p>
          <a:p>
            <a:pPr algn="just">
              <a:lnSpc>
                <a:spcPct val="100000"/>
              </a:lnSpc>
            </a:pPr>
            <a:r>
              <a:rPr lang="en-US" sz="2500" dirty="0"/>
              <a:t> The first commodity clustering product was ARC net(Attached Resource Computer Network), developed by Datapoint in 1977. </a:t>
            </a:r>
          </a:p>
          <a:p>
            <a:pPr algn="just">
              <a:lnSpc>
                <a:spcPct val="100000"/>
              </a:lnSpc>
            </a:pPr>
            <a:r>
              <a:rPr lang="en-US" sz="2500" dirty="0"/>
              <a:t>The next product was VAX cluster , released by DEC in 1980’s. </a:t>
            </a:r>
          </a:p>
          <a:p>
            <a:pPr algn="just">
              <a:lnSpc>
                <a:spcPct val="100000"/>
              </a:lnSpc>
            </a:pPr>
            <a:r>
              <a:rPr lang="en-US" sz="2500" dirty="0"/>
              <a:t> Microsoft, sun microsystems, and other leading hardware and software companies offer clustering packages.</a:t>
            </a:r>
            <a:endParaRPr sz="2500" dirty="0"/>
          </a:p>
        </p:txBody>
      </p:sp>
    </p:spTree>
    <p:extLst>
      <p:ext uri="{BB962C8B-B14F-4D97-AF65-F5344CB8AC3E}">
        <p14:creationId xmlns:p14="http://schemas.microsoft.com/office/powerpoint/2010/main" val="4145261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2099" y="-152400"/>
            <a:ext cx="9144000" cy="1600200"/>
          </a:xfrm>
        </p:spPr>
        <p:txBody>
          <a:bodyPr>
            <a:normAutofit/>
          </a:bodyPr>
          <a:lstStyle/>
          <a:p>
            <a:pPr algn="ctr"/>
            <a:r>
              <a:rPr lang="en-IN" sz="5400" b="1" dirty="0">
                <a:latin typeface="Algerian" panose="04020705040A02060702" pitchFamily="82" charset="0"/>
              </a:rPr>
              <a:t>CLUSTER COMPUTING</a:t>
            </a:r>
            <a:endParaRPr sz="5400" b="1" dirty="0">
              <a:latin typeface="Algerian" panose="04020705040A02060702" pitchFamily="82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F5990E-8F88-07EB-ED90-45508DCA2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714500"/>
            <a:ext cx="6241870" cy="41529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Cluster computing is a </a:t>
            </a:r>
            <a:r>
              <a:rPr lang="en-US" sz="2400" b="1" dirty="0"/>
              <a:t>parallel or distributed</a:t>
            </a:r>
            <a:r>
              <a:rPr lang="en-US" sz="2400" dirty="0"/>
              <a:t> computer system, which is a collection of </a:t>
            </a:r>
            <a:r>
              <a:rPr lang="en-US" sz="2400" b="1" dirty="0"/>
              <a:t>inter-connected stand-alone computers </a:t>
            </a:r>
            <a:r>
              <a:rPr lang="en-US" sz="2400" dirty="0"/>
              <a:t>working together as a single integrated computing resource.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 Clusters are commonly connected through fast local area networks.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98ABD6-7C9C-146F-1279-273AC889B2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270" y="2133600"/>
            <a:ext cx="5775959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190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B6B1E-20EE-2AB1-4418-8229D0626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76200"/>
            <a:ext cx="11963400" cy="1447800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Algerian" panose="04020705040A02060702" pitchFamily="82" charset="0"/>
              </a:rPr>
              <a:t>W</a:t>
            </a:r>
            <a:r>
              <a:rPr lang="en-IN" sz="5400" b="1" dirty="0">
                <a:latin typeface="Algerian" panose="04020705040A02060702" pitchFamily="82" charset="0"/>
              </a:rPr>
              <a:t>HY CLUSTER COMPUTING?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65137-E95D-7764-C0F6-884DD4FA8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2057400"/>
            <a:ext cx="11582400" cy="39624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500" dirty="0"/>
              <a:t> Improve Speed</a:t>
            </a:r>
          </a:p>
          <a:p>
            <a:pPr algn="just">
              <a:lnSpc>
                <a:spcPct val="150000"/>
              </a:lnSpc>
            </a:pPr>
            <a:r>
              <a:rPr lang="en-US" sz="2500" dirty="0"/>
              <a:t> Closer Connection.</a:t>
            </a:r>
          </a:p>
          <a:p>
            <a:pPr algn="just">
              <a:lnSpc>
                <a:spcPct val="150000"/>
              </a:lnSpc>
            </a:pPr>
            <a:r>
              <a:rPr lang="en-US" sz="2500" dirty="0"/>
              <a:t>Cost effective</a:t>
            </a:r>
          </a:p>
          <a:p>
            <a:pPr algn="just">
              <a:lnSpc>
                <a:spcPct val="150000"/>
              </a:lnSpc>
            </a:pPr>
            <a:r>
              <a:rPr lang="en-US" sz="2500" dirty="0"/>
              <a:t>Low latency communication Protocols.</a:t>
            </a:r>
          </a:p>
          <a:p>
            <a:pPr algn="just">
              <a:lnSpc>
                <a:spcPct val="150000"/>
              </a:lnSpc>
            </a:pPr>
            <a:r>
              <a:rPr lang="en-US" sz="2500" dirty="0"/>
              <a:t>Loosely coupled.</a:t>
            </a:r>
          </a:p>
          <a:p>
            <a:pPr algn="just">
              <a:lnSpc>
                <a:spcPct val="150000"/>
              </a:lnSpc>
            </a:pP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3770639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2BEF2-49C6-48B6-3886-768E0A912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1770"/>
            <a:ext cx="9144000" cy="1426029"/>
          </a:xfrm>
        </p:spPr>
        <p:txBody>
          <a:bodyPr>
            <a:normAutofit/>
          </a:bodyPr>
          <a:lstStyle/>
          <a:p>
            <a:pPr algn="ctr"/>
            <a:r>
              <a:rPr lang="en-IN" sz="5400" b="1" dirty="0">
                <a:latin typeface="Algerian" panose="04020705040A02060702" pitchFamily="82" charset="0"/>
              </a:rPr>
              <a:t>TYPES OF CLUSTER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46B67-722F-4D8A-16B7-9EB2BF0D2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133600"/>
            <a:ext cx="9144000" cy="32766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/>
              <a:t> High performance clusters</a:t>
            </a:r>
          </a:p>
          <a:p>
            <a:pPr algn="just">
              <a:lnSpc>
                <a:spcPct val="150000"/>
              </a:lnSpc>
            </a:pPr>
            <a:r>
              <a:rPr lang="en-US" sz="2800" dirty="0"/>
              <a:t>  High availability cluster or Failover Clusters</a:t>
            </a:r>
          </a:p>
          <a:p>
            <a:pPr algn="just">
              <a:lnSpc>
                <a:spcPct val="150000"/>
              </a:lnSpc>
            </a:pPr>
            <a:r>
              <a:rPr lang="en-US" sz="2800" dirty="0"/>
              <a:t>  Load balancing cluster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661180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B4AE8CA-C620-B0A6-ABF1-0FE7BB19F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-76200"/>
            <a:ext cx="11734800" cy="1524000"/>
          </a:xfrm>
        </p:spPr>
        <p:txBody>
          <a:bodyPr>
            <a:noAutofit/>
          </a:bodyPr>
          <a:lstStyle/>
          <a:p>
            <a:pPr algn="ctr"/>
            <a:r>
              <a:rPr lang="en-IN" sz="5400" b="1" dirty="0">
                <a:latin typeface="Algerian" panose="04020705040A02060702" pitchFamily="82" charset="0"/>
              </a:rPr>
              <a:t>HIGH PERFORMANCE CLUSTER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7AE9EC4-4410-3EBC-6BD9-D0C38339C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752600"/>
            <a:ext cx="12187646" cy="4953000"/>
          </a:xfrm>
        </p:spPr>
        <p:txBody>
          <a:bodyPr>
            <a:norm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600" dirty="0"/>
              <a:t>Start from 1994</a:t>
            </a:r>
          </a:p>
          <a:p>
            <a:pPr lvl="1">
              <a:lnSpc>
                <a:spcPct val="150000"/>
              </a:lnSpc>
            </a:pPr>
            <a:r>
              <a:rPr lang="en-US" sz="2600" b="0" i="0" dirty="0">
                <a:solidFill>
                  <a:srgbClr val="FFFFFF"/>
                </a:solidFill>
                <a:effectLst/>
              </a:rPr>
              <a:t>High </a:t>
            </a:r>
            <a:r>
              <a:rPr lang="en-IN" sz="2600" b="0" i="0" dirty="0">
                <a:solidFill>
                  <a:srgbClr val="FFFFFF"/>
                </a:solidFill>
                <a:effectLst/>
              </a:rPr>
              <a:t>Performance</a:t>
            </a:r>
            <a:r>
              <a:rPr lang="en-US" sz="2600" b="0" i="0" dirty="0">
                <a:solidFill>
                  <a:srgbClr val="FFFFFF"/>
                </a:solidFill>
                <a:effectLst/>
              </a:rPr>
              <a:t> clusters use computer clusters and supercomputers to solve advance computational problems. </a:t>
            </a:r>
          </a:p>
          <a:p>
            <a:pPr lvl="1">
              <a:lnSpc>
                <a:spcPct val="150000"/>
              </a:lnSpc>
            </a:pPr>
            <a:r>
              <a:rPr lang="en-US" sz="2600" b="0" i="0" dirty="0">
                <a:solidFill>
                  <a:srgbClr val="FFFFFF"/>
                </a:solidFill>
                <a:effectLst/>
              </a:rPr>
              <a:t>They are used to performing functions that need nodes to communicate as they perform their jobs. </a:t>
            </a:r>
          </a:p>
          <a:p>
            <a:pPr lvl="1">
              <a:lnSpc>
                <a:spcPct val="150000"/>
              </a:lnSpc>
            </a:pPr>
            <a:r>
              <a:rPr lang="en-US" sz="2600" b="0" i="0" dirty="0">
                <a:solidFill>
                  <a:srgbClr val="FFFFFF"/>
                </a:solidFill>
                <a:effectLst/>
              </a:rPr>
              <a:t>They are designed to take benefit of the parallel processing power of several nodes.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3232560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2DC9BA5-41DA-EB6D-BB1E-474739A75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640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9C0BF-3D9C-848F-0795-679C53AFD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2209800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>
                <a:latin typeface="Algerian" panose="04020705040A02060702" pitchFamily="82" charset="0"/>
              </a:rPr>
              <a:t>HIGH AVAILABILITY CLUSTERS OR FAILOVER CLUSTERS </a:t>
            </a:r>
            <a:endParaRPr lang="en-IN" sz="5400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C6391-A909-8B9E-1F6F-9537489BB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667000"/>
            <a:ext cx="11811000" cy="4038600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sz="2400" dirty="0"/>
              <a:t> Avoid single point of failure.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This requires at least two nodes a primary and a backup.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  Always with redundancy.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  Almost all load balancing cluster are with HA capability.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   Used to implement database, mail, file print, web application servers.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35507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8B9002-FF17-8B85-4480-FA6CA6515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-380999"/>
            <a:ext cx="11887200" cy="121920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Algerian" panose="04020705040A02060702" pitchFamily="82" charset="0"/>
              </a:rPr>
              <a:t>HIGH AVAILABILITY CLUSTERS OR FAILOVER CLUSTERS </a:t>
            </a:r>
            <a:endParaRPr lang="en-IN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BF01F9-BB57-2E7E-1465-F447661A4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3870" y="1143000"/>
            <a:ext cx="7484260" cy="548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3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14E5B-BE4A-B42E-FCE4-7995D6B58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21770"/>
            <a:ext cx="11963400" cy="1654629"/>
          </a:xfrm>
        </p:spPr>
        <p:txBody>
          <a:bodyPr>
            <a:normAutofit/>
          </a:bodyPr>
          <a:lstStyle/>
          <a:p>
            <a:pPr algn="ctr"/>
            <a:r>
              <a:rPr lang="en-IN" sz="5400" b="1" dirty="0">
                <a:latin typeface="Algerian" panose="04020705040A02060702" pitchFamily="82" charset="0"/>
              </a:rPr>
              <a:t>LOAD BALANCING CLUSTER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8D7A7-CE62-BE80-F573-7EB1B4649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" y="2286000"/>
            <a:ext cx="11925300" cy="4267200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r>
              <a:rPr lang="en-US" sz="2400" dirty="0"/>
              <a:t> Pc cluster deliver load balancing performance.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  It distributes incoming requests for resources or content among multiple nodes running the same programs or having the same content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  Each node in cluster is able to handle requests for the same content or application.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  Both the high availability and load balancing cluster technologies can be combined to increase the reliability, availability , and scalability of application and data resources that are widely deployed for web , mail or FTP services.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368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66E0C0-B650-6ED2-B392-68F4FB66F5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513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C8938-D9A1-C998-1DB0-2B4C34031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-76200"/>
            <a:ext cx="9144000" cy="1524000"/>
          </a:xfrm>
        </p:spPr>
        <p:txBody>
          <a:bodyPr>
            <a:normAutofit/>
          </a:bodyPr>
          <a:lstStyle/>
          <a:p>
            <a:pPr algn="ctr"/>
            <a:r>
              <a:rPr lang="en-IN" sz="5400" b="1" dirty="0">
                <a:latin typeface="Algerian" panose="04020705040A02060702" pitchFamily="82" charset="0"/>
              </a:rPr>
              <a:t>COMPONENTS OF CLUSTER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2D019-BD82-3984-649E-D84C223EA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981200"/>
            <a:ext cx="10515600" cy="4800600"/>
          </a:xfrm>
        </p:spPr>
        <p:txBody>
          <a:bodyPr>
            <a:normAutofit/>
          </a:bodyPr>
          <a:lstStyle/>
          <a:p>
            <a:r>
              <a:rPr lang="en-US" sz="2400" dirty="0"/>
              <a:t> The basic building blocks of clusters are broken down into multiple categories:</a:t>
            </a:r>
          </a:p>
          <a:p>
            <a:r>
              <a:rPr lang="en-US" sz="2400" dirty="0"/>
              <a:t> The cluster nodes,</a:t>
            </a:r>
          </a:p>
          <a:p>
            <a:r>
              <a:rPr lang="en-US" sz="2400" dirty="0"/>
              <a:t> Cluster operating system,</a:t>
            </a:r>
          </a:p>
          <a:p>
            <a:r>
              <a:rPr lang="en-US" sz="2400" dirty="0"/>
              <a:t> Network switching hardware and </a:t>
            </a:r>
          </a:p>
          <a:p>
            <a:r>
              <a:rPr lang="en-US" sz="2400" dirty="0"/>
              <a:t> The node/switch interconnect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5D8FD2-51F6-C4A2-ACDD-3FDEFB8403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4851" y="2590800"/>
            <a:ext cx="6400800" cy="325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969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078F4-833E-2D6F-A410-987C8BB2E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1447800"/>
          </a:xfrm>
        </p:spPr>
        <p:txBody>
          <a:bodyPr>
            <a:normAutofit/>
          </a:bodyPr>
          <a:lstStyle/>
          <a:p>
            <a:pPr algn="ctr"/>
            <a:r>
              <a:rPr lang="en-IN" sz="5400" b="1" dirty="0">
                <a:latin typeface="Algerian" panose="04020705040A02060702" pitchFamily="82" charset="0"/>
              </a:rPr>
              <a:t>ADVANTAGES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F6F789-F6CE-AB58-E43A-7304D9C39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981200"/>
            <a:ext cx="11887200" cy="47244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500" dirty="0"/>
              <a:t> </a:t>
            </a:r>
            <a:r>
              <a:rPr lang="en-US" sz="2500" b="1" dirty="0"/>
              <a:t>Availability</a:t>
            </a:r>
            <a:r>
              <a:rPr lang="en-US" sz="2500" dirty="0"/>
              <a:t> </a:t>
            </a:r>
          </a:p>
          <a:p>
            <a:pPr lvl="1" algn="just">
              <a:lnSpc>
                <a:spcPct val="100000"/>
              </a:lnSpc>
            </a:pPr>
            <a:r>
              <a:rPr lang="en-US" sz="2500" dirty="0"/>
              <a:t> In case if server is having a problem another server from the cluster takes over the server having issue. This ensure the high availability of web applications.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500" b="1" dirty="0"/>
              <a:t>  Load Handling and maintenance </a:t>
            </a:r>
          </a:p>
          <a:p>
            <a:pPr lvl="1" algn="just">
              <a:lnSpc>
                <a:spcPct val="100000"/>
              </a:lnSpc>
            </a:pPr>
            <a:r>
              <a:rPr lang="en-US" sz="2500" dirty="0"/>
              <a:t> If a dedicated server from the cluster requires maintenance , it can be stopped while other servers handles.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500" dirty="0"/>
              <a:t>  </a:t>
            </a:r>
            <a:r>
              <a:rPr lang="en-US" sz="2500" b="1" dirty="0"/>
              <a:t>Easy to manage </a:t>
            </a:r>
          </a:p>
          <a:p>
            <a:pPr lvl="1" algn="just">
              <a:lnSpc>
                <a:spcPct val="100000"/>
              </a:lnSpc>
            </a:pPr>
            <a:r>
              <a:rPr lang="en-US" sz="2500" dirty="0"/>
              <a:t> More easy cluster management software are emerging to manage the clusters and in present also some are available.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3225614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3234C-12A1-4C97-BD87-6223156B2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76200"/>
            <a:ext cx="9144000" cy="1447800"/>
          </a:xfrm>
        </p:spPr>
        <p:txBody>
          <a:bodyPr>
            <a:normAutofit/>
          </a:bodyPr>
          <a:lstStyle/>
          <a:p>
            <a:pPr algn="ctr"/>
            <a:r>
              <a:rPr lang="en-IN" sz="5400" b="1" dirty="0">
                <a:latin typeface="Algerian" panose="04020705040A02060702" pitchFamily="82" charset="0"/>
              </a:rPr>
              <a:t>DISADVANTAGES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08707-EEA6-3630-53D3-A06FA382A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2133600"/>
            <a:ext cx="11163300" cy="44196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sz="2900" b="1" dirty="0"/>
              <a:t>More Space is required </a:t>
            </a:r>
          </a:p>
          <a:p>
            <a:pPr lvl="1" algn="just">
              <a:lnSpc>
                <a:spcPct val="100000"/>
              </a:lnSpc>
            </a:pPr>
            <a:r>
              <a:rPr lang="en-US" dirty="0"/>
              <a:t> </a:t>
            </a:r>
            <a:r>
              <a:rPr lang="en-US" sz="2400" dirty="0"/>
              <a:t>Server clustering usually requires more servers and hardware to manage and monitor thus increases the infrastructure. Some web hosting providers may afford it.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/>
              <a:t>  </a:t>
            </a:r>
            <a:r>
              <a:rPr lang="en-US" sz="2900" b="1" dirty="0"/>
              <a:t>Very expensive </a:t>
            </a:r>
          </a:p>
          <a:p>
            <a:pPr lvl="1" algn="just">
              <a:lnSpc>
                <a:spcPct val="100000"/>
              </a:lnSpc>
            </a:pPr>
            <a:r>
              <a:rPr lang="en-US" dirty="0"/>
              <a:t> </a:t>
            </a:r>
            <a:r>
              <a:rPr lang="en-US" sz="2400" dirty="0"/>
              <a:t>It is not a cost-effective solution, as it needs a good server design which can be a bit expensive.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15493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00BA7-4DB8-96CE-5C6E-78BDE0602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4354"/>
            <a:ext cx="9144000" cy="1367246"/>
          </a:xfrm>
        </p:spPr>
        <p:txBody>
          <a:bodyPr>
            <a:normAutofit/>
          </a:bodyPr>
          <a:lstStyle/>
          <a:p>
            <a:pPr algn="ctr"/>
            <a:r>
              <a:rPr lang="en-IN" sz="5400" b="1" dirty="0">
                <a:latin typeface="Algerian" panose="04020705040A02060702" pitchFamily="82" charset="0"/>
              </a:rPr>
              <a:t>APPLICATIONS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836B6-A129-FD73-F949-43705BA4A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2286000"/>
            <a:ext cx="11734800" cy="4567646"/>
          </a:xfrm>
        </p:spPr>
        <p:txBody>
          <a:bodyPr>
            <a:noAutofit/>
          </a:bodyPr>
          <a:lstStyle/>
          <a:p>
            <a:pPr lvl="3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2400" dirty="0"/>
              <a:t> Web serving/searching (google search engine) </a:t>
            </a:r>
          </a:p>
          <a:p>
            <a:pPr lvl="3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2400" dirty="0"/>
              <a:t> Email , e-chat , e-book, e-bank </a:t>
            </a:r>
          </a:p>
          <a:p>
            <a:pPr lvl="3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2400" dirty="0"/>
              <a:t> E-commerce application(amazon.com, ebay.com) </a:t>
            </a:r>
          </a:p>
        </p:txBody>
      </p:sp>
    </p:spTree>
    <p:extLst>
      <p:ext uri="{BB962C8B-B14F-4D97-AF65-F5344CB8AC3E}">
        <p14:creationId xmlns:p14="http://schemas.microsoft.com/office/powerpoint/2010/main" val="1447132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4B524-D442-8C8F-8915-A9D8C3102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latin typeface="Algerian" panose="04020705040A02060702" pitchFamily="82" charset="0"/>
              </a:rPr>
              <a:t>CONCLUSION</a:t>
            </a:r>
            <a:endParaRPr lang="en-IN" sz="6000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DE012-7092-36EC-2FB5-171ED24A2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2286000"/>
            <a:ext cx="9144000" cy="39624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/>
              <a:t>Cluster computing has become a major part of many research program because the price to performance ratio of commodity cluster is very good. Also, because the nodes in a cluster are clone, there is no single point of failure, which enhances the reliability to the cluster.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6719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E6C9D-D711-54A6-A757-E869B7423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447800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Algerian" panose="04020705040A02060702" pitchFamily="82" charset="0"/>
              </a:rPr>
              <a:t>References</a:t>
            </a:r>
            <a:r>
              <a:rPr lang="en-IN" sz="5400" b="1" dirty="0">
                <a:latin typeface="Algerian" panose="04020705040A02060702" pitchFamily="82" charset="0"/>
              </a:rPr>
              <a:t> </a:t>
            </a:r>
            <a:endParaRPr lang="en-I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6131-83DA-60C4-7BEB-1F8A587CD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2667000"/>
            <a:ext cx="9144000" cy="3429000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IN" sz="2000" b="1" dirty="0">
                <a:latin typeface="Algerian" panose="04020705040A02060702" pitchFamily="82" charset="0"/>
                <a:hlinkClick r:id="rId2"/>
              </a:rPr>
              <a:t>https://www.w3schools.com/</a:t>
            </a:r>
            <a:endParaRPr lang="en-IN" sz="2000" b="1" dirty="0">
              <a:latin typeface="Algerian" panose="04020705040A02060702" pitchFamily="82" charset="0"/>
            </a:endParaRPr>
          </a:p>
          <a:p>
            <a:pPr algn="ctr">
              <a:lnSpc>
                <a:spcPct val="150000"/>
              </a:lnSpc>
            </a:pPr>
            <a:r>
              <a:rPr lang="en-IN" sz="2000" b="1" dirty="0">
                <a:latin typeface="Algerian" panose="04020705040A02060702" pitchFamily="82" charset="0"/>
                <a:hlinkClick r:id="rId3"/>
              </a:rPr>
              <a:t>https://www.freepik.com/</a:t>
            </a:r>
            <a:endParaRPr lang="en-IN" sz="2000" b="1" dirty="0">
              <a:latin typeface="Algerian" panose="04020705040A02060702" pitchFamily="82" charset="0"/>
            </a:endParaRPr>
          </a:p>
          <a:p>
            <a:pPr algn="ctr">
              <a:lnSpc>
                <a:spcPct val="150000"/>
              </a:lnSpc>
            </a:pPr>
            <a:r>
              <a:rPr lang="en-IN" sz="2000" b="1" dirty="0">
                <a:latin typeface="Algerian" panose="04020705040A02060702" pitchFamily="82" charset="0"/>
                <a:hlinkClick r:id="rId4"/>
              </a:rPr>
              <a:t>https://www.youtube.com/</a:t>
            </a:r>
            <a:endParaRPr lang="en-IN" sz="2000" b="1" dirty="0">
              <a:latin typeface="Algerian" panose="04020705040A02060702" pitchFamily="82" charset="0"/>
            </a:endParaRPr>
          </a:p>
          <a:p>
            <a:pPr algn="ctr">
              <a:lnSpc>
                <a:spcPct val="150000"/>
              </a:lnSpc>
            </a:pPr>
            <a:r>
              <a:rPr lang="en-IN" sz="2000" b="1" dirty="0">
                <a:latin typeface="Algerian" panose="04020705040A02060702" pitchFamily="82" charset="0"/>
                <a:hlinkClick r:id="rId5"/>
              </a:rPr>
              <a:t>https://www.javatpoint.com/</a:t>
            </a:r>
            <a:endParaRPr lang="en-IN" sz="2000" b="1" dirty="0">
              <a:latin typeface="Algerian" panose="04020705040A02060702" pitchFamily="82" charset="0"/>
            </a:endParaRPr>
          </a:p>
          <a:p>
            <a:pPr algn="ctr">
              <a:lnSpc>
                <a:spcPct val="150000"/>
              </a:lnSpc>
            </a:pPr>
            <a:endParaRPr lang="en-IN" sz="2000" b="1" dirty="0">
              <a:latin typeface="Algerian" panose="04020705040A02060702" pitchFamily="82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01641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A430D1B7-7FED-88E4-0781-C6B5FEDFA3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276600"/>
            <a:ext cx="12192000" cy="2286000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IN" sz="8000" b="1" dirty="0">
                <a:latin typeface="Algerian" panose="04020705040A02060702" pitchFamily="82" charset="0"/>
              </a:rPr>
              <a:t>THANK You </a:t>
            </a:r>
            <a:endParaRPr lang="en-IN" sz="8000" dirty="0"/>
          </a:p>
        </p:txBody>
      </p:sp>
    </p:spTree>
    <p:extLst>
      <p:ext uri="{BB962C8B-B14F-4D97-AF65-F5344CB8AC3E}">
        <p14:creationId xmlns:p14="http://schemas.microsoft.com/office/powerpoint/2010/main" val="997739807"/>
      </p:ext>
    </p:extLst>
  </p:cSld>
  <p:clrMapOvr>
    <a:masterClrMapping/>
  </p:clrMapOvr>
</p:sld>
</file>

<file path=ppt/theme/theme1.xml><?xml version="1.0" encoding="utf-8"?>
<a:theme xmlns:a="http://schemas.openxmlformats.org/drawingml/2006/main" name="Tech Computer 16x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901026.potx" id="{FD85E87A-7813-4F67-9E59-69B5487A1910}" vid="{BDF94C36-3ACF-4CF1-939F-F4211E6D666F}"/>
    </a:ext>
  </a:extLst>
</a:theme>
</file>

<file path=ppt/theme/theme2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technology circuit board design presentation (widescreen)</Template>
  <TotalTime>2006</TotalTime>
  <Words>679</Words>
  <Application>Microsoft Office PowerPoint</Application>
  <PresentationFormat>Widescreen</PresentationFormat>
  <Paragraphs>77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Algerian</vt:lpstr>
      <vt:lpstr>Arial</vt:lpstr>
      <vt:lpstr>Candara</vt:lpstr>
      <vt:lpstr>Consolas</vt:lpstr>
      <vt:lpstr>Georgia</vt:lpstr>
      <vt:lpstr>Wingdings</vt:lpstr>
      <vt:lpstr>Tech Computer 16x9</vt:lpstr>
      <vt:lpstr>CLUSTER COMPUTING </vt:lpstr>
      <vt:lpstr>OVERVIEW</vt:lpstr>
      <vt:lpstr>HISTORY</vt:lpstr>
      <vt:lpstr>CLUSTER COMPUTING</vt:lpstr>
      <vt:lpstr>WHY CLUSTER COMPUTING?</vt:lpstr>
      <vt:lpstr>TYPES OF CLUSTER</vt:lpstr>
      <vt:lpstr>HIGH PERFORMANCE CLUSTER </vt:lpstr>
      <vt:lpstr>PowerPoint Presentation</vt:lpstr>
      <vt:lpstr>HIGH AVAILABILITY CLUSTERS OR FAILOVER CLUSTERS </vt:lpstr>
      <vt:lpstr>HIGH AVAILABILITY CLUSTERS OR FAILOVER CLUSTERS </vt:lpstr>
      <vt:lpstr>LOAD BALANCING CLUSTER </vt:lpstr>
      <vt:lpstr>PowerPoint Presentation</vt:lpstr>
      <vt:lpstr>COMPONENTS OF CLUSTER </vt:lpstr>
      <vt:lpstr>ADVANTAGES </vt:lpstr>
      <vt:lpstr>DISADVANTAGES </vt:lpstr>
      <vt:lpstr>APPLICATIONS </vt:lpstr>
      <vt:lpstr>CONCLUSION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CLUSTER COMPUTING </dc:title>
  <dc:creator>shubham kumar yadav</dc:creator>
  <cp:lastModifiedBy>shubham kumar yadav</cp:lastModifiedBy>
  <cp:revision>27</cp:revision>
  <dcterms:created xsi:type="dcterms:W3CDTF">2023-03-23T06:15:05Z</dcterms:created>
  <dcterms:modified xsi:type="dcterms:W3CDTF">2023-04-17T14:42:07Z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